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8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9.png"/><Relationship Id="rId8" Type="http://schemas.microsoft.com/office/2007/relationships/media" Target="../media/media5.mp4"/><Relationship Id="rId9" Type="http://schemas.openxmlformats.org/officeDocument/2006/relationships/video" Target="../media/media5.mp4"/><Relationship Id="rId10" Type="http://schemas.openxmlformats.org/officeDocument/2006/relationships/image" Target="../media/image10.png"/><Relationship Id="rId11" Type="http://schemas.microsoft.com/office/2007/relationships/media" Target="../media/media6.mp4"/><Relationship Id="rId12" Type="http://schemas.openxmlformats.org/officeDocument/2006/relationships/video" Target="../media/media6.mp4"/><Relationship Id="rId13" Type="http://schemas.openxmlformats.org/officeDocument/2006/relationships/image" Target="../media/image11.png"/><Relationship Id="rId14" Type="http://schemas.microsoft.com/office/2007/relationships/media" Target="../media/media7.mp4"/><Relationship Id="rId15" Type="http://schemas.openxmlformats.org/officeDocument/2006/relationships/video" Target="../media/media7.mp4"/><Relationship Id="rId16" Type="http://schemas.openxmlformats.org/officeDocument/2006/relationships/image" Target="../media/image12.png"/><Relationship Id="rId17" Type="http://schemas.openxmlformats.org/officeDocument/2006/relationships/image" Target="../media/image13.png"/><Relationship Id="rId18" Type="http://schemas.microsoft.com/office/2007/relationships/media" Target="../media/media8.mp4"/><Relationship Id="rId19" Type="http://schemas.openxmlformats.org/officeDocument/2006/relationships/video" Target="../media/media8.mp4"/><Relationship Id="rId20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670" y="457200"/>
            <a:ext cx="51181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C07D3C"/>
                </a:solidFill>
                <a:latin typeface="Consolas"/>
              </a:rPr>
              <a:t>STAIR-CLIMBING ROBOTIC OXYGEN CARRIER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EFECE6"/>
                </a:solidFill>
                <a:latin typeface="Segoe UI"/>
              </a:rPr>
              <a:t>TASH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FC9BF"/>
                </a:solidFill>
                <a:latin typeface="Segoe UI"/>
              </a:rPr>
              <a:t>A robot dog that </a:t>
            </a:r>
            <a:r>
              <a:rPr sz="1600" b="1">
                <a:solidFill>
                  <a:srgbClr val="CFC9BF"/>
                </a:solidFill>
                <a:latin typeface="Segoe UI"/>
              </a:rPr>
              <a:t>carries the oxygen and climbs the stairs</a:t>
            </a:r>
            <a:r>
              <a:rPr sz="1600" b="0">
                <a:solidFill>
                  <a:srgbClr val="CFC9BF"/>
                </a:solidFill>
                <a:latin typeface="Segoe UI"/>
              </a:rPr>
              <a:t> alongside therapy patients — so they don’t have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958C"/>
                </a:solidFill>
                <a:latin typeface="Consolas"/>
              </a:rPr>
              <a:t>Unitree Go2 · 2.22 kg O₂ payload · blind-RL climb · Isaac Sim ⇄ Jetson Orin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blem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9" y="566928"/>
            <a:ext cx="5558910" cy="572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PROBLEM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TASH — Stair-Climbing Robotic Oxygen Carrier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F2C28"/>
                </a:solidFill>
                <a:latin typeface="Segoe UI"/>
              </a:rPr>
              <a:t>Oxygen-therapy patients are </a:t>
            </a:r>
            <a:r>
              <a:rPr sz="1250" b="1">
                <a:solidFill>
                  <a:srgbClr val="2F2C28"/>
                </a:solidFill>
                <a:latin typeface="Segoe UI"/>
              </a:rPr>
              <a:t>tethered to their supply</a:t>
            </a:r>
            <a:r>
              <a:rPr sz="1250" b="1">
                <a:solidFill>
                  <a:srgbClr val="2F2C28"/>
                </a:solidFill>
                <a:latin typeface="Segoe UI"/>
              </a:rPr>
              <a:t> — wherever they go, the concentrator goes too.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Millions of people with </a:t>
            </a:r>
            <a:r>
              <a:rPr sz="1080" b="1">
                <a:solidFill>
                  <a:srgbClr val="2F2C28"/>
                </a:solidFill>
                <a:latin typeface="Segoe UI"/>
              </a:rPr>
              <a:t>COPD</a:t>
            </a:r>
            <a:r>
              <a:rPr sz="1080" b="0">
                <a:solidFill>
                  <a:srgbClr val="2F2C28"/>
                </a:solidFill>
                <a:latin typeface="Segoe UI"/>
              </a:rPr>
              <a:t>, </a:t>
            </a:r>
            <a:r>
              <a:rPr sz="1080" b="1">
                <a:solidFill>
                  <a:srgbClr val="2F2C28"/>
                </a:solidFill>
                <a:latin typeface="Segoe UI"/>
              </a:rPr>
              <a:t>pulmonary fibrosis</a:t>
            </a:r>
            <a:r>
              <a:rPr sz="1080" b="0">
                <a:solidFill>
                  <a:srgbClr val="2F2C28"/>
                </a:solidFill>
                <a:latin typeface="Segoe UI"/>
              </a:rPr>
              <a:t> and other chronic lung disease are prescribed </a:t>
            </a:r>
            <a:r>
              <a:rPr sz="1080" b="1">
                <a:solidFill>
                  <a:srgbClr val="2F2C28"/>
                </a:solidFill>
                <a:latin typeface="Segoe UI"/>
              </a:rPr>
              <a:t>long-term oxygen</a:t>
            </a:r>
            <a:r>
              <a:rPr sz="1080" b="0">
                <a:solidFill>
                  <a:srgbClr val="2F2C28"/>
                </a:solidFill>
                <a:latin typeface="Segoe UI"/>
              </a:rPr>
              <a:t> for everyday life at home. The equipment is </a:t>
            </a:r>
            <a:r>
              <a:rPr sz="1080" b="1">
                <a:solidFill>
                  <a:srgbClr val="2F2C28"/>
                </a:solidFill>
                <a:latin typeface="Segoe UI"/>
              </a:rPr>
              <a:t>heavy and awkward</a:t>
            </a:r>
            <a:r>
              <a:rPr sz="1080" b="0">
                <a:solidFill>
                  <a:srgbClr val="2F2C28"/>
                </a:solidFill>
                <a:latin typeface="Segoe UI"/>
              </a:rPr>
              <a:t>, and a staircase turns an ordinary trip into a </a:t>
            </a:r>
            <a:r>
              <a:rPr sz="1080" b="1">
                <a:solidFill>
                  <a:srgbClr val="2F2C28"/>
                </a:solidFill>
                <a:latin typeface="Segoe UI"/>
              </a:rPr>
              <a:t>two-hands-full balancing act</a:t>
            </a:r>
            <a:r>
              <a:rPr sz="1080" b="0">
                <a:solidFill>
                  <a:srgbClr val="2F2C28"/>
                </a:solidFill>
                <a:latin typeface="Segoe UI"/>
              </a:rPr>
              <a:t>. Many simply </a:t>
            </a:r>
            <a:r>
              <a:rPr sz="1080" b="1">
                <a:solidFill>
                  <a:srgbClr val="2F2C28"/>
                </a:solidFill>
                <a:latin typeface="Segoe UI"/>
              </a:rPr>
              <a:t>stop using the stairs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and lose a whole floor of their own home. Our idea is simple: let a </a:t>
            </a:r>
            <a:r>
              <a:rPr sz="1080" b="1">
                <a:solidFill>
                  <a:srgbClr val="2F2C28"/>
                </a:solidFill>
                <a:latin typeface="Segoe UI"/>
              </a:rPr>
              <a:t>robot dog carry the oxygen</a:t>
            </a:r>
            <a:r>
              <a:rPr sz="1080" b="0">
                <a:solidFill>
                  <a:srgbClr val="2F2C28"/>
                </a:solidFill>
                <a:latin typeface="Segoe UI"/>
              </a:rPr>
              <a:t> and climb alongside them, so they don’t have 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8357" y="5980176"/>
            <a:ext cx="10972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8357" y="6012180"/>
            <a:ext cx="10972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independence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5365" y="5980176"/>
            <a:ext cx="89153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5365" y="6012180"/>
            <a:ext cx="89153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fall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66633" y="5980176"/>
            <a:ext cx="10972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6633" y="6012180"/>
            <a:ext cx="10972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daily burden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8357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8085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~1.5 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Americans on home oxygen (est.)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28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56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2–3 kg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portable unit to carry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33499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43227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Leading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injury cause, age 65+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RCH_ROBOT_RENDER" descr="hero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15" y="566928"/>
            <a:ext cx="3154639" cy="3663452"/>
          </a:xfrm>
          <a:prstGeom prst="rect">
            <a:avLst/>
          </a:prstGeom>
        </p:spPr>
      </p:pic>
      <p:pic>
        <p:nvPicPr>
          <p:cNvPr id="6" name="Picture 5" descr="diagram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513" y="4344863"/>
            <a:ext cx="4205643" cy="18317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SOLUTION &amp; TECHNOLOGY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System architecture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A </a:t>
            </a:r>
            <a:r>
              <a:rPr sz="1080" b="1">
                <a:solidFill>
                  <a:srgbClr val="2F2C28"/>
                </a:solidFill>
                <a:latin typeface="Segoe UI"/>
              </a:rPr>
              <a:t>Unitree Go2</a:t>
            </a:r>
            <a:r>
              <a:rPr sz="1080" b="0">
                <a:solidFill>
                  <a:srgbClr val="2F2C28"/>
                </a:solidFill>
                <a:latin typeface="Segoe UI"/>
              </a:rPr>
              <a:t> carries the patient’s oxygen concentrator on a </a:t>
            </a:r>
            <a:r>
              <a:rPr sz="1080" b="1">
                <a:solidFill>
                  <a:srgbClr val="2F2C28"/>
                </a:solidFill>
                <a:latin typeface="Segoe UI"/>
              </a:rPr>
              <a:t>shock-isolated cradle</a:t>
            </a:r>
            <a:r>
              <a:rPr sz="1080" b="0">
                <a:solidFill>
                  <a:srgbClr val="2F2C28"/>
                </a:solidFill>
                <a:latin typeface="Segoe UI"/>
              </a:rPr>
              <a:t>. The whole control stack — </a:t>
            </a:r>
            <a:r>
              <a:rPr sz="1080" b="1">
                <a:solidFill>
                  <a:srgbClr val="2F2C28"/>
                </a:solidFill>
                <a:latin typeface="Segoe UI"/>
              </a:rPr>
              <a:t>perception plus the learned policy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runs inside </a:t>
            </a:r>
            <a:r>
              <a:rPr sz="1080" b="1">
                <a:solidFill>
                  <a:srgbClr val="2F2C28"/>
                </a:solidFill>
                <a:latin typeface="Segoe UI"/>
              </a:rPr>
              <a:t>one Docker container</a:t>
            </a:r>
            <a:r>
              <a:rPr sz="1080" b="0">
                <a:solidFill>
                  <a:srgbClr val="2F2C28"/>
                </a:solidFill>
                <a:latin typeface="Segoe UI"/>
              </a:rPr>
              <a:t> on a </a:t>
            </a:r>
            <a:r>
              <a:rPr sz="1080" b="1">
                <a:solidFill>
                  <a:srgbClr val="2F2C28"/>
                </a:solidFill>
                <a:latin typeface="Segoe UI"/>
              </a:rPr>
              <a:t>Jetson Orin</a:t>
            </a:r>
            <a:r>
              <a:rPr sz="1080" b="0">
                <a:solidFill>
                  <a:srgbClr val="2F2C28"/>
                </a:solidFill>
                <a:latin typeface="Segoe UI"/>
              </a:rPr>
              <a:t>: the same container whether Isaac Sim or the real robot feeds it. </a:t>
            </a:r>
            <a:r>
              <a:rPr sz="1080" b="1">
                <a:solidFill>
                  <a:srgbClr val="2F2C28"/>
                </a:solidFill>
                <a:latin typeface="Segoe UI"/>
              </a:rPr>
              <a:t>Only the sensor source is swapped</a:t>
            </a:r>
            <a:r>
              <a:rPr sz="1080" b="0">
                <a:solidFill>
                  <a:srgbClr val="2F2C28"/>
                </a:solidFill>
                <a:latin typeface="Segoe UI"/>
              </a:rPr>
              <a:t>, so a policy proven in simulation is expected to hold on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" y="882944"/>
            <a:ext cx="6289677" cy="3031418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wal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910376"/>
            <a:ext cx="6234813" cy="2976554"/>
          </a:xfrm>
          <a:prstGeom prst="rect">
            <a:avLst/>
          </a:prstGeom>
        </p:spPr>
      </p:pic>
      <p:pic>
        <p:nvPicPr>
          <p:cNvPr id="7" name="Picture 6" descr="diagram_wa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242" y="4230380"/>
            <a:ext cx="4196185" cy="1831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SOLUTION &amp; TECHNOLOGY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Walking policy — it follows you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On flat ground the robot </a:t>
            </a:r>
            <a:r>
              <a:rPr sz="1080" b="1">
                <a:solidFill>
                  <a:srgbClr val="2F2C28"/>
                </a:solidFill>
                <a:latin typeface="Segoe UI"/>
              </a:rPr>
              <a:t>follows the patient by sight</a:t>
            </a:r>
            <a:r>
              <a:rPr sz="1080" b="0">
                <a:solidFill>
                  <a:srgbClr val="2F2C28"/>
                </a:solidFill>
                <a:latin typeface="Segoe UI"/>
              </a:rPr>
              <a:t>: a </a:t>
            </a:r>
            <a:r>
              <a:rPr sz="1080" b="1">
                <a:solidFill>
                  <a:srgbClr val="2F2C28"/>
                </a:solidFill>
                <a:latin typeface="Segoe UI"/>
              </a:rPr>
              <a:t>YOLO-World detector</a:t>
            </a:r>
            <a:r>
              <a:rPr sz="1080" b="0">
                <a:solidFill>
                  <a:srgbClr val="2F2C28"/>
                </a:solidFill>
                <a:latin typeface="Segoe UI"/>
              </a:rPr>
              <a:t> locates the person in </a:t>
            </a:r>
            <a:r>
              <a:rPr sz="1080" b="1">
                <a:solidFill>
                  <a:srgbClr val="2F2C28"/>
                </a:solidFill>
                <a:latin typeface="Segoe UI"/>
              </a:rPr>
              <a:t>every camera frame</a:t>
            </a:r>
            <a:r>
              <a:rPr sz="1080" b="0">
                <a:solidFill>
                  <a:srgbClr val="2F2C28"/>
                </a:solidFill>
                <a:latin typeface="Segoe UI"/>
              </a:rPr>
              <a:t>, and a </a:t>
            </a:r>
            <a:r>
              <a:rPr sz="1080" b="1">
                <a:solidFill>
                  <a:srgbClr val="2F2C28"/>
                </a:solidFill>
                <a:latin typeface="Segoe UI"/>
              </a:rPr>
              <a:t>learned trot gait</a:t>
            </a:r>
            <a:r>
              <a:rPr sz="1080" b="0">
                <a:solidFill>
                  <a:srgbClr val="2F2C28"/>
                </a:solidFill>
                <a:latin typeface="Segoe UI"/>
              </a:rPr>
              <a:t> steers to keep pace while </a:t>
            </a:r>
            <a:r>
              <a:rPr sz="1080" b="1">
                <a:solidFill>
                  <a:srgbClr val="2F2C28"/>
                </a:solidFill>
                <a:latin typeface="Segoe UI"/>
              </a:rPr>
              <a:t>holding the oxygen payload level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rejecting the disturbances of a shifting load and an uneven floor at each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" y="882944"/>
            <a:ext cx="6289677" cy="3031418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climb_0p130_trimm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910376"/>
            <a:ext cx="6234813" cy="2976554"/>
          </a:xfrm>
          <a:prstGeom prst="rect">
            <a:avLst/>
          </a:prstGeom>
        </p:spPr>
      </p:pic>
      <p:pic>
        <p:nvPicPr>
          <p:cNvPr id="7" name="Picture 6" descr="diagram_clim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195" y="4230380"/>
            <a:ext cx="4166278" cy="1831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SOLUTION &amp; TECHNOLOGY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Blind-RL policy — it climbs by feel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The staircase is </a:t>
            </a:r>
            <a:r>
              <a:rPr sz="1080" b="1">
                <a:solidFill>
                  <a:srgbClr val="2F2C28"/>
                </a:solidFill>
                <a:latin typeface="Segoe UI"/>
              </a:rPr>
              <a:t>climbed on feel alone</a:t>
            </a:r>
            <a:r>
              <a:rPr sz="1080" b="0">
                <a:solidFill>
                  <a:srgbClr val="2F2C28"/>
                </a:solidFill>
                <a:latin typeface="Segoe UI"/>
              </a:rPr>
              <a:t>. Cameras </a:t>
            </a:r>
            <a:r>
              <a:rPr sz="1080" b="1">
                <a:solidFill>
                  <a:srgbClr val="2F2C28"/>
                </a:solidFill>
                <a:latin typeface="Segoe UI"/>
              </a:rPr>
              <a:t>can’t see the steps underfoot</a:t>
            </a:r>
            <a:r>
              <a:rPr sz="1080" b="0">
                <a:solidFill>
                  <a:srgbClr val="2F2C28"/>
                </a:solidFill>
                <a:latin typeface="Segoe UI"/>
              </a:rPr>
              <a:t>, so a reinforcement-learning policy leans entirely on </a:t>
            </a:r>
            <a:r>
              <a:rPr sz="1080" b="1">
                <a:solidFill>
                  <a:srgbClr val="2F2C28"/>
                </a:solidFill>
                <a:latin typeface="Segoe UI"/>
              </a:rPr>
              <a:t>proprioception and foot contact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</a:t>
            </a:r>
            <a:r>
              <a:rPr sz="1080" b="1">
                <a:solidFill>
                  <a:srgbClr val="2F2C28"/>
                </a:solidFill>
                <a:latin typeface="Segoe UI"/>
              </a:rPr>
              <a:t>sensing each riser as a paw lands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to place its feet and drive the payload upward, step after step, while </a:t>
            </a:r>
            <a:r>
              <a:rPr sz="1080" b="1">
                <a:solidFill>
                  <a:srgbClr val="2F2C28"/>
                </a:solidFill>
                <a:latin typeface="Segoe UI"/>
              </a:rPr>
              <a:t>keeping the concentrator upright</a:t>
            </a:r>
            <a:r>
              <a:rPr sz="1080" b="0">
                <a:solidFill>
                  <a:srgbClr val="2F2C28"/>
                </a:solidFill>
                <a:latin typeface="Segoe UI"/>
              </a:rPr>
              <a:t> on the incline.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LIVE DEMO · REAL ISAAC ROLLOUT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62320"/>
                </a:solidFill>
                <a:latin typeface="Segoe UI"/>
              </a:rPr>
              <a:t>It sees the patient and follows — and climbs rising stair heights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271016"/>
            <a:ext cx="5815583" cy="334670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opencv_follo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1298448"/>
            <a:ext cx="57607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636008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2C28"/>
                </a:solidFill>
                <a:latin typeface="Segoe UI"/>
              </a:rPr>
              <a:t>Nothing here is scripted.</a:t>
            </a:r>
            <a:r>
              <a:rPr sz="1100" b="0">
                <a:solidFill>
                  <a:srgbClr val="2F2C28"/>
                </a:solidFill>
                <a:latin typeface="Segoe UI"/>
              </a:rPr>
              <a:t> YOLO-World locks onto the patient in every frame; depth + LiDAR read the scene; the learned gait steers to keep pace — all from the dog’s own camera.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5976" y="12710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limb_0p12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93408" y="1298448"/>
            <a:ext cx="1582826" cy="1554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3394" y="12710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limb_0p130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40826" y="1298448"/>
            <a:ext cx="1582826" cy="1554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160812" y="12710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climb_0p140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0188244" y="1298448"/>
            <a:ext cx="1582826" cy="1554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65976" y="33284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climb_0p150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693408" y="3355848"/>
            <a:ext cx="1582826" cy="1554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413394" y="33284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climb_0p160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440826" y="3355848"/>
            <a:ext cx="1582826" cy="15544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160812" y="3328416"/>
            <a:ext cx="1637690" cy="160934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limb_0p175.mp4">
            <a:hlinkClick r:id="" action="ppaction://media"/>
          </p:cNvPr>
          <p:cNvPicPr>
            <a:picLocks noChangeAspect="1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0188244" y="3355848"/>
            <a:ext cx="1582826" cy="155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s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9" y="566928"/>
            <a:ext cx="5558910" cy="572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PROGRESS &amp; RESULTS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We trained it to climb — 6,000 iterations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F2C28"/>
                </a:solidFill>
                <a:latin typeface="Segoe UI"/>
              </a:rPr>
              <a:t>A </a:t>
            </a:r>
            <a:r>
              <a:rPr sz="1250" b="1">
                <a:solidFill>
                  <a:srgbClr val="2F2C28"/>
                </a:solidFill>
                <a:latin typeface="Segoe UI"/>
              </a:rPr>
              <a:t>blind reinforcement-learning policy</a:t>
            </a:r>
            <a:r>
              <a:rPr sz="1250" b="1">
                <a:solidFill>
                  <a:srgbClr val="2F2C28"/>
                </a:solidFill>
                <a:latin typeface="Segoe UI"/>
              </a:rPr>
              <a:t> learned to drive the payload upstairs </a:t>
            </a:r>
            <a:r>
              <a:rPr sz="1250" b="1">
                <a:solidFill>
                  <a:srgbClr val="2F2C28"/>
                </a:solidFill>
                <a:latin typeface="Segoe UI"/>
              </a:rPr>
              <a:t>on feel alone</a:t>
            </a:r>
            <a:r>
              <a:rPr sz="1250" b="1">
                <a:solidFill>
                  <a:srgbClr val="2F2C28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Across </a:t>
            </a:r>
            <a:r>
              <a:rPr sz="1080" b="1">
                <a:solidFill>
                  <a:srgbClr val="2F2C28"/>
                </a:solidFill>
                <a:latin typeface="Segoe UI"/>
              </a:rPr>
              <a:t>6,000 training iterations</a:t>
            </a:r>
            <a:r>
              <a:rPr sz="1080" b="0">
                <a:solidFill>
                  <a:srgbClr val="2F2C28"/>
                </a:solidFill>
                <a:latin typeface="Segoe UI"/>
              </a:rPr>
              <a:t> the mean episode reward climbed to </a:t>
            </a:r>
            <a:r>
              <a:rPr sz="1080" b="1">
                <a:solidFill>
                  <a:srgbClr val="2F2C28"/>
                </a:solidFill>
                <a:latin typeface="Segoe UI"/>
              </a:rPr>
              <a:t>95.7</a:t>
            </a:r>
            <a:r>
              <a:rPr sz="1080" b="0">
                <a:solidFill>
                  <a:srgbClr val="2F2C28"/>
                </a:solidFill>
                <a:latin typeface="Segoe UI"/>
              </a:rPr>
              <a:t> and held. A </a:t>
            </a:r>
            <a:r>
              <a:rPr sz="1080" b="1">
                <a:solidFill>
                  <a:srgbClr val="2F2C28"/>
                </a:solidFill>
                <a:latin typeface="Segoe UI"/>
              </a:rPr>
              <a:t>difficulty curriculum</a:t>
            </a:r>
            <a:r>
              <a:rPr sz="1080" b="0">
                <a:solidFill>
                  <a:srgbClr val="2F2C28"/>
                </a:solidFill>
                <a:latin typeface="Segoe UI"/>
              </a:rPr>
              <a:t> pushed the stairs steeper over time, settling at a </a:t>
            </a:r>
            <a:r>
              <a:rPr sz="1080" b="1">
                <a:solidFill>
                  <a:srgbClr val="2F2C28"/>
                </a:solidFill>
                <a:latin typeface="Segoe UI"/>
              </a:rPr>
              <a:t>138 mm riser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right at the real-world target height. Along the way the policy learned to </a:t>
            </a:r>
            <a:r>
              <a:rPr sz="1080" b="1">
                <a:solidFill>
                  <a:srgbClr val="2F2C28"/>
                </a:solidFill>
                <a:latin typeface="Segoe UI"/>
              </a:rPr>
              <a:t>stop falling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topples collapsed from </a:t>
            </a:r>
            <a:r>
              <a:rPr sz="1080" b="1">
                <a:solidFill>
                  <a:srgbClr val="2F2C28"/>
                </a:solidFill>
                <a:latin typeface="Segoe UI"/>
              </a:rPr>
              <a:t>92% of episodes to about 3%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and to </a:t>
            </a:r>
            <a:r>
              <a:rPr sz="1080" b="1">
                <a:solidFill>
                  <a:srgbClr val="2F2C28"/>
                </a:solidFill>
                <a:latin typeface="Segoe UI"/>
              </a:rPr>
              <a:t>survive longer</a:t>
            </a:r>
            <a:r>
              <a:rPr sz="1080" b="0">
                <a:solidFill>
                  <a:srgbClr val="2F2C28"/>
                </a:solidFill>
                <a:latin typeface="Segoe UI"/>
              </a:rPr>
              <a:t>, carrying the payload the full climb instead of tipping in the first couple of seconds. The gait it found is </a:t>
            </a:r>
            <a:r>
              <a:rPr sz="1080" b="1">
                <a:solidFill>
                  <a:srgbClr val="2F2C28"/>
                </a:solidFill>
                <a:latin typeface="Segoe UI"/>
              </a:rPr>
              <a:t>cautious, not graceful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it noses down and leans into each riser rather than stepping cleanly — but inside that trained envelope it </a:t>
            </a:r>
            <a:r>
              <a:rPr sz="1080" b="1">
                <a:solidFill>
                  <a:srgbClr val="2F2C28"/>
                </a:solidFill>
                <a:latin typeface="Segoe UI"/>
              </a:rPr>
              <a:t>ends upright almost every time</a:t>
            </a:r>
            <a:r>
              <a:rPr sz="1080" b="0">
                <a:solidFill>
                  <a:srgbClr val="2F2C28"/>
                </a:solidFill>
                <a:latin typeface="Segoe UI"/>
              </a:rPr>
              <a:t>, keeping the payload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8357" y="5980176"/>
            <a:ext cx="82295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8357" y="6012180"/>
            <a:ext cx="8229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blind 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045" y="5980176"/>
            <a:ext cx="13716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1045" y="6012180"/>
            <a:ext cx="13716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Go2 + 2.22 kg 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2373" y="5980176"/>
            <a:ext cx="89153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2373" y="6012180"/>
            <a:ext cx="89153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Isaac Sim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8357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8085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95.7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mean reward at plateau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28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56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138 mm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riser the curriculum settled 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33499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43227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≈100%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episodes end upright, not a fall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s_swee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99" y="681410"/>
            <a:ext cx="4846870" cy="25186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25325" y="3573292"/>
            <a:ext cx="4918018" cy="2459004"/>
          </a:xfrm>
          <a:prstGeom prst="roundRect">
            <a:avLst>
              <a:gd name="adj" fmla="val 4000"/>
            </a:avLst>
          </a:prstGeom>
          <a:solidFill>
            <a:srgbClr val="22201D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all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2757" y="3600724"/>
            <a:ext cx="4863154" cy="2404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PROGRESS &amp; RESULTS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How high it climbs — and where it stops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F2C28"/>
                </a:solidFill>
                <a:latin typeface="Segoe UI"/>
              </a:rPr>
              <a:t>We swept real staircase heights from </a:t>
            </a:r>
            <a:r>
              <a:rPr sz="1250" b="1">
                <a:solidFill>
                  <a:srgbClr val="2F2C28"/>
                </a:solidFill>
                <a:latin typeface="Segoe UI"/>
              </a:rPr>
              <a:t>4.7″ up past the code maximum</a:t>
            </a:r>
            <a:r>
              <a:rPr sz="1250" b="1">
                <a:solidFill>
                  <a:srgbClr val="2F2C28"/>
                </a:solidFill>
                <a:latin typeface="Segoe UI"/>
              </a:rPr>
              <a:t> — carrying the oxygen tank the whole way, and pushing until it fails.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Up to the </a:t>
            </a:r>
            <a:r>
              <a:rPr sz="1080" b="1">
                <a:solidFill>
                  <a:srgbClr val="2F2C28"/>
                </a:solidFill>
                <a:latin typeface="Segoe UI"/>
              </a:rPr>
              <a:t>ADA-legal 6-inch riser</a:t>
            </a:r>
            <a:r>
              <a:rPr sz="1080" b="0">
                <a:solidFill>
                  <a:srgbClr val="2F2C28"/>
                </a:solidFill>
                <a:latin typeface="Segoe UI"/>
              </a:rPr>
              <a:t> it climbs the </a:t>
            </a:r>
            <a:r>
              <a:rPr sz="1080" b="1">
                <a:solidFill>
                  <a:srgbClr val="2F2C28"/>
                </a:solidFill>
                <a:latin typeface="Segoe UI"/>
              </a:rPr>
              <a:t>full 14-step staircase</a:t>
            </a:r>
            <a:r>
              <a:rPr sz="1080" b="0">
                <a:solidFill>
                  <a:srgbClr val="2F2C28"/>
                </a:solidFill>
                <a:latin typeface="Segoe UI"/>
              </a:rPr>
              <a:t> and follows the patient to the top — but not for free: </a:t>
            </a:r>
            <a:r>
              <a:rPr sz="1080" b="1">
                <a:solidFill>
                  <a:srgbClr val="2F2C28"/>
                </a:solidFill>
                <a:latin typeface="Segoe UI"/>
              </a:rPr>
              <a:t>every extra inch of riser slows it down</a:t>
            </a:r>
            <a:r>
              <a:rPr sz="1080" b="0">
                <a:solidFill>
                  <a:srgbClr val="2F2C28"/>
                </a:solidFill>
                <a:latin typeface="Segoe UI"/>
              </a:rPr>
              <a:t>, from </a:t>
            </a:r>
            <a:r>
              <a:rPr sz="1080" b="1">
                <a:solidFill>
                  <a:srgbClr val="2F2C28"/>
                </a:solidFill>
                <a:latin typeface="Segoe UI"/>
              </a:rPr>
              <a:t>35 s at 4.7″</a:t>
            </a:r>
            <a:r>
              <a:rPr sz="1080" b="0">
                <a:solidFill>
                  <a:srgbClr val="2F2C28"/>
                </a:solidFill>
                <a:latin typeface="Segoe UI"/>
              </a:rPr>
              <a:t> to </a:t>
            </a:r>
            <a:r>
              <a:rPr sz="1080" b="1">
                <a:solidFill>
                  <a:srgbClr val="2F2C28"/>
                </a:solidFill>
                <a:latin typeface="Segoe UI"/>
              </a:rPr>
              <a:t>51 s at 6″</a:t>
            </a:r>
            <a:r>
              <a:rPr sz="1080" b="0">
                <a:solidFill>
                  <a:srgbClr val="2F2C28"/>
                </a:solidFill>
                <a:latin typeface="Segoe UI"/>
              </a:rPr>
              <a:t>. Push past code-legal stairs and it </a:t>
            </a:r>
            <a:r>
              <a:rPr sz="1080" b="1">
                <a:solidFill>
                  <a:srgbClr val="2F2C28"/>
                </a:solidFill>
                <a:latin typeface="Segoe UI"/>
              </a:rPr>
              <a:t>runs out of reach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a </a:t>
            </a:r>
            <a:r>
              <a:rPr sz="1080" b="1">
                <a:solidFill>
                  <a:srgbClr val="2F2C28"/>
                </a:solidFill>
                <a:latin typeface="Segoe UI"/>
              </a:rPr>
              <a:t>7-inch riser</a:t>
            </a:r>
            <a:r>
              <a:rPr sz="1080" b="0">
                <a:solidFill>
                  <a:srgbClr val="2F2C28"/>
                </a:solidFill>
                <a:latin typeface="Segoe UI"/>
              </a:rPr>
              <a:t> gets it barely a third of the way up — and steeper still it </a:t>
            </a:r>
            <a:r>
              <a:rPr sz="1080" b="1">
                <a:solidFill>
                  <a:srgbClr val="2F2C28"/>
                </a:solidFill>
                <a:latin typeface="Segoe UI"/>
              </a:rPr>
              <a:t>rears up against the step and can’t get over it</a:t>
            </a:r>
            <a:r>
              <a:rPr sz="1080" b="0">
                <a:solidFill>
                  <a:srgbClr val="2F2C28"/>
                </a:solidFill>
                <a:latin typeface="Segoe UI"/>
              </a:rPr>
              <a:t> at all. That limit sits right about where a person would want a </a:t>
            </a:r>
            <a:r>
              <a:rPr sz="1080" b="1">
                <a:solidFill>
                  <a:srgbClr val="2F2C28"/>
                </a:solidFill>
                <a:latin typeface="Segoe UI"/>
              </a:rPr>
              <a:t>stair-lift</a:t>
            </a:r>
            <a:r>
              <a:rPr sz="1080" b="0">
                <a:solidFill>
                  <a:srgbClr val="2F2C28"/>
                </a:solidFill>
                <a:latin typeface="Segoe UI"/>
              </a:rPr>
              <a:t>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8357" y="5980176"/>
            <a:ext cx="82295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8357" y="6012180"/>
            <a:ext cx="8229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ADA 6″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1045" y="5980176"/>
            <a:ext cx="130302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1045" y="6012180"/>
            <a:ext cx="13030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higher = slower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3793" y="5980176"/>
            <a:ext cx="20574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3793" y="6012180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past code-max = stalls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8357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8085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6″ 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highest riser it fully tops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95928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56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+44%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slower climb from 4.7″ to 6″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33499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43227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7″ 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too steep — stalls out, can’t climb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e_to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34" y="566928"/>
            <a:ext cx="5553999" cy="572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8357" y="566928"/>
            <a:ext cx="44664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ENGINEERING CHALLENGES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Everything that broke — and the fix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F2C28"/>
                </a:solidFill>
                <a:latin typeface="Segoe UI"/>
              </a:rPr>
              <a:t>Getting a </a:t>
            </a:r>
            <a:r>
              <a:rPr sz="1150" b="1">
                <a:solidFill>
                  <a:srgbClr val="2F2C28"/>
                </a:solidFill>
                <a:latin typeface="Segoe UI"/>
              </a:rPr>
              <a:t>blind</a:t>
            </a:r>
            <a:r>
              <a:rPr sz="1150" b="1">
                <a:solidFill>
                  <a:srgbClr val="2F2C28"/>
                </a:solidFill>
                <a:latin typeface="Segoe UI"/>
              </a:rPr>
              <a:t> dog to climb stairs — carrying a payload, beside a person — </a:t>
            </a:r>
            <a:r>
              <a:rPr sz="1150" b="1">
                <a:solidFill>
                  <a:srgbClr val="2F2C28"/>
                </a:solidFill>
                <a:latin typeface="Segoe UI"/>
              </a:rPr>
              <a:t>broke in every way you’d expect</a:t>
            </a:r>
            <a:r>
              <a:rPr sz="1150" b="1">
                <a:solidFill>
                  <a:srgbClr val="2F2C28"/>
                </a:solidFill>
                <a:latin typeface="Segoe UI"/>
              </a:rPr>
              <a:t>. Each failure sent us back to the sim with a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8357" y="2121408"/>
            <a:ext cx="4466409" cy="7863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6373" y="2176272"/>
            <a:ext cx="421037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85050"/>
                </a:solidFill>
                <a:latin typeface="Segoe UI"/>
              </a:rPr>
              <a:t>×  </a:t>
            </a:r>
            <a:r>
              <a:rPr sz="950" b="1">
                <a:solidFill>
                  <a:srgbClr val="B85050"/>
                </a:solidFill>
                <a:latin typeface="Segoe UI"/>
              </a:rPr>
              <a:t>The first policy was </a:t>
            </a:r>
            <a:r>
              <a:rPr sz="950" b="1">
                <a:solidFill>
                  <a:srgbClr val="B85050"/>
                </a:solidFill>
                <a:latin typeface="Segoe UI"/>
              </a:rPr>
              <a:t>reckless</a:t>
            </a:r>
            <a:r>
              <a:rPr sz="950" b="1">
                <a:solidFill>
                  <a:srgbClr val="B85050"/>
                </a:solidFill>
                <a:latin typeface="Segoe UI"/>
              </a:rPr>
              <a:t> — it lunged at the steps and crashed.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F2C28"/>
                </a:solidFill>
                <a:latin typeface="Segoe UI"/>
              </a:rPr>
              <a:t>→  </a:t>
            </a:r>
            <a:r>
              <a:rPr sz="950" b="1">
                <a:solidFill>
                  <a:srgbClr val="2F2C28"/>
                </a:solidFill>
                <a:latin typeface="Segoe UI"/>
              </a:rPr>
              <a:t>Retrained from a stronger checkpoint</a:t>
            </a:r>
            <a:r>
              <a:rPr sz="950" b="0">
                <a:solidFill>
                  <a:srgbClr val="2F2C28"/>
                </a:solidFill>
                <a:latin typeface="Segoe UI"/>
              </a:rPr>
              <a:t> until the gait commits to each step </a:t>
            </a:r>
            <a:r>
              <a:rPr sz="950" b="1">
                <a:solidFill>
                  <a:srgbClr val="2F2C28"/>
                </a:solidFill>
                <a:latin typeface="Segoe UI"/>
              </a:rPr>
              <a:t>cautiously and stays upright</a:t>
            </a:r>
            <a:r>
              <a:rPr sz="950" b="0">
                <a:solidFill>
                  <a:srgbClr val="2F2C28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8357" y="3017520"/>
            <a:ext cx="4466409" cy="7863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6373" y="3072384"/>
            <a:ext cx="421037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85050"/>
                </a:solidFill>
                <a:latin typeface="Segoe UI"/>
              </a:rPr>
              <a:t>×  </a:t>
            </a:r>
            <a:r>
              <a:rPr sz="950" b="1">
                <a:solidFill>
                  <a:srgbClr val="B85050"/>
                </a:solidFill>
                <a:latin typeface="Segoe UI"/>
              </a:rPr>
              <a:t>It </a:t>
            </a:r>
            <a:r>
              <a:rPr sz="950" b="1">
                <a:solidFill>
                  <a:srgbClr val="B85050"/>
                </a:solidFill>
                <a:latin typeface="Segoe UI"/>
              </a:rPr>
              <a:t>couldn’t see</a:t>
            </a:r>
            <a:r>
              <a:rPr sz="950" b="1">
                <a:solidFill>
                  <a:srgbClr val="B85050"/>
                </a:solidFill>
                <a:latin typeface="Segoe UI"/>
              </a:rPr>
              <a:t> the stairs underfoot.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F2C28"/>
                </a:solidFill>
                <a:latin typeface="Segoe UI"/>
              </a:rPr>
              <a:t>→  </a:t>
            </a:r>
            <a:r>
              <a:rPr sz="950" b="0">
                <a:solidFill>
                  <a:srgbClr val="2F2C28"/>
                </a:solidFill>
                <a:latin typeface="Segoe UI"/>
              </a:rPr>
              <a:t>A </a:t>
            </a:r>
            <a:r>
              <a:rPr sz="950" b="1">
                <a:solidFill>
                  <a:srgbClr val="2F2C28"/>
                </a:solidFill>
                <a:latin typeface="Segoe UI"/>
              </a:rPr>
              <a:t>blind RL policy</a:t>
            </a:r>
            <a:r>
              <a:rPr sz="950" b="0">
                <a:solidFill>
                  <a:srgbClr val="2F2C28"/>
                </a:solidFill>
                <a:latin typeface="Segoe UI"/>
              </a:rPr>
              <a:t> that climbs by feel — </a:t>
            </a:r>
            <a:r>
              <a:rPr sz="950" b="1">
                <a:solidFill>
                  <a:srgbClr val="2F2C28"/>
                </a:solidFill>
                <a:latin typeface="Segoe UI"/>
              </a:rPr>
              <a:t>proprioception + foot contact</a:t>
            </a:r>
            <a:r>
              <a:rPr sz="950" b="0">
                <a:solidFill>
                  <a:srgbClr val="2F2C28"/>
                </a:solidFill>
                <a:latin typeface="Segoe UI"/>
              </a:rPr>
              <a:t>, no camera needed on the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8357" y="3913631"/>
            <a:ext cx="4466409" cy="7863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6373" y="3968495"/>
            <a:ext cx="421037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85050"/>
                </a:solidFill>
                <a:latin typeface="Segoe UI"/>
              </a:rPr>
              <a:t>×  </a:t>
            </a:r>
            <a:r>
              <a:rPr sz="950" b="1">
                <a:solidFill>
                  <a:srgbClr val="B85050"/>
                </a:solidFill>
                <a:latin typeface="Segoe UI"/>
              </a:rPr>
              <a:t>It mistook the </a:t>
            </a:r>
            <a:r>
              <a:rPr sz="950" b="1">
                <a:solidFill>
                  <a:srgbClr val="B85050"/>
                </a:solidFill>
                <a:latin typeface="Segoe UI"/>
              </a:rPr>
              <a:t>patient</a:t>
            </a:r>
            <a:r>
              <a:rPr sz="950" b="1">
                <a:solidFill>
                  <a:srgbClr val="B85050"/>
                </a:solidFill>
                <a:latin typeface="Segoe UI"/>
              </a:rPr>
              <a:t> for a staircase.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F2C28"/>
                </a:solidFill>
                <a:latin typeface="Segoe UI"/>
              </a:rPr>
              <a:t>→  </a:t>
            </a:r>
            <a:r>
              <a:rPr sz="950" b="0">
                <a:solidFill>
                  <a:srgbClr val="2F2C28"/>
                </a:solidFill>
                <a:latin typeface="Segoe UI"/>
              </a:rPr>
              <a:t>Mask the person out of the depth view and require a </a:t>
            </a:r>
            <a:r>
              <a:rPr sz="950" b="1">
                <a:solidFill>
                  <a:srgbClr val="2F2C28"/>
                </a:solidFill>
                <a:latin typeface="Segoe UI"/>
              </a:rPr>
              <a:t>real stair detection</a:t>
            </a:r>
            <a:r>
              <a:rPr sz="950" b="0">
                <a:solidFill>
                  <a:srgbClr val="2F2C28"/>
                </a:solidFill>
                <a:latin typeface="Segoe UI"/>
              </a:rPr>
              <a:t> before ever committing to climb mode.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8357" y="4809744"/>
            <a:ext cx="4466409" cy="7863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6373" y="4864607"/>
            <a:ext cx="421037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85050"/>
                </a:solidFill>
                <a:latin typeface="Segoe UI"/>
              </a:rPr>
              <a:t>×  </a:t>
            </a:r>
            <a:r>
              <a:rPr sz="950" b="1">
                <a:solidFill>
                  <a:srgbClr val="B85050"/>
                </a:solidFill>
                <a:latin typeface="Segoe UI"/>
              </a:rPr>
              <a:t>It </a:t>
            </a:r>
            <a:r>
              <a:rPr sz="950" b="1">
                <a:solidFill>
                  <a:srgbClr val="B85050"/>
                </a:solidFill>
                <a:latin typeface="Segoe UI"/>
              </a:rPr>
              <a:t>crowded the patient</a:t>
            </a:r>
            <a:r>
              <a:rPr sz="950" b="1">
                <a:solidFill>
                  <a:srgbClr val="B85050"/>
                </a:solidFill>
                <a:latin typeface="Segoe UI"/>
              </a:rPr>
              <a:t> on the incline.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F2C28"/>
                </a:solidFill>
                <a:latin typeface="Segoe UI"/>
              </a:rPr>
              <a:t>→  </a:t>
            </a:r>
            <a:r>
              <a:rPr sz="950" b="1">
                <a:solidFill>
                  <a:srgbClr val="2F2C28"/>
                </a:solidFill>
                <a:latin typeface="Segoe UI"/>
              </a:rPr>
              <a:t>Gap-aware pacing</a:t>
            </a:r>
            <a:r>
              <a:rPr sz="950" b="0">
                <a:solidFill>
                  <a:srgbClr val="2F2C28"/>
                </a:solidFill>
                <a:latin typeface="Segoe UI"/>
              </a:rPr>
              <a:t> so the dog trails the person up the stairs instead of closing in on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8357" y="5980176"/>
            <a:ext cx="130302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8357" y="6012180"/>
            <a:ext cx="13030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sim-in-the-loop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1105" y="5980176"/>
            <a:ext cx="14401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1105" y="6012180"/>
            <a:ext cx="14401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fail, fix, repeat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1013" y="5980176"/>
            <a:ext cx="10972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1013" y="6012180"/>
            <a:ext cx="10972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safety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92608"/>
            <a:ext cx="11606479" cy="6272784"/>
          </a:xfrm>
          <a:prstGeom prst="roundRect">
            <a:avLst>
              <a:gd name="adj" fmla="val 3500"/>
            </a:avLst>
          </a:prstGeom>
          <a:solidFill>
            <a:srgbClr val="D6D2CA"/>
          </a:solidFill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6333" y="475488"/>
            <a:ext cx="12801" cy="5907024"/>
          </a:xfrm>
          <a:prstGeom prst="rect">
            <a:avLst/>
          </a:prstGeom>
          <a:solidFill>
            <a:srgbClr val="B1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e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54" y="566928"/>
            <a:ext cx="4827361" cy="572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8357" y="566928"/>
            <a:ext cx="4466409" cy="57241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6F6A62"/>
                </a:solidFill>
                <a:latin typeface="Consolas"/>
              </a:rPr>
              <a:t>REAL-WORLD POTENTIAL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>
                <a:solidFill>
                  <a:srgbClr val="262320"/>
                </a:solidFill>
                <a:latin typeface="Segoe UI"/>
              </a:rPr>
              <a:t>From a proven sim to the living room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F2C28"/>
                </a:solidFill>
                <a:latin typeface="Segoe UI"/>
              </a:rPr>
              <a:t>The </a:t>
            </a:r>
            <a:r>
              <a:rPr sz="1250" b="1">
                <a:solidFill>
                  <a:srgbClr val="2F2C28"/>
                </a:solidFill>
                <a:latin typeface="Segoe UI"/>
              </a:rPr>
              <a:t>same control container</a:t>
            </a:r>
            <a:r>
              <a:rPr sz="1250" b="1">
                <a:solidFill>
                  <a:srgbClr val="2F2C28"/>
                </a:solidFill>
                <a:latin typeface="Segoe UI"/>
              </a:rPr>
              <a:t> runs in simulation and on the robot — </a:t>
            </a:r>
            <a:r>
              <a:rPr sz="1250" b="1">
                <a:solidFill>
                  <a:srgbClr val="2F2C28"/>
                </a:solidFill>
                <a:latin typeface="Segoe UI"/>
              </a:rPr>
              <a:t>only the sensor source changes</a:t>
            </a:r>
            <a:r>
              <a:rPr sz="1250" b="1">
                <a:solidFill>
                  <a:srgbClr val="2F2C28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F2C28"/>
                </a:solidFill>
                <a:latin typeface="Segoe UI"/>
              </a:rPr>
              <a:t>That is the whole deployment bet: a policy </a:t>
            </a:r>
            <a:r>
              <a:rPr sz="1080" b="1">
                <a:solidFill>
                  <a:srgbClr val="2F2C28"/>
                </a:solidFill>
                <a:latin typeface="Segoe UI"/>
              </a:rPr>
              <a:t>proven in Isaac Sim</a:t>
            </a:r>
            <a:r>
              <a:rPr sz="1080" b="0">
                <a:solidFill>
                  <a:srgbClr val="2F2C28"/>
                </a:solidFill>
                <a:latin typeface="Segoe UI"/>
              </a:rPr>
              <a:t> is expected to hold on an </a:t>
            </a:r>
            <a:r>
              <a:rPr sz="1080" b="1">
                <a:solidFill>
                  <a:srgbClr val="2F2C28"/>
                </a:solidFill>
                <a:latin typeface="Segoe UI"/>
              </a:rPr>
              <a:t>NVIDIA Jetson Orin</a:t>
            </a:r>
            <a:r>
              <a:rPr sz="1080" b="0">
                <a:solidFill>
                  <a:srgbClr val="2F2C28"/>
                </a:solidFill>
                <a:latin typeface="Segoe UI"/>
              </a:rPr>
              <a:t> carried by a real Go2, because it runs the </a:t>
            </a:r>
            <a:r>
              <a:rPr sz="1080" b="1">
                <a:solidFill>
                  <a:srgbClr val="2F2C28"/>
                </a:solidFill>
                <a:latin typeface="Segoe UI"/>
              </a:rPr>
              <a:t>identical Docker stack</a:t>
            </a:r>
            <a:r>
              <a:rPr sz="1080" b="0">
                <a:solidFill>
                  <a:srgbClr val="2F2C28"/>
                </a:solidFill>
                <a:latin typeface="Segoe UI"/>
              </a:rPr>
              <a:t>. The payoff is </a:t>
            </a:r>
            <a:r>
              <a:rPr sz="1080" b="1">
                <a:solidFill>
                  <a:srgbClr val="2F2C28"/>
                </a:solidFill>
                <a:latin typeface="Segoe UI"/>
              </a:rPr>
              <a:t>a floor of the house given back</a:t>
            </a:r>
            <a:r>
              <a:rPr sz="1080" b="0">
                <a:solidFill>
                  <a:srgbClr val="2F2C28"/>
                </a:solidFill>
                <a:latin typeface="Segoe UI"/>
              </a:rPr>
              <a:t> — </a:t>
            </a:r>
            <a:r>
              <a:rPr sz="1080" b="1">
                <a:solidFill>
                  <a:srgbClr val="2F2C28"/>
                </a:solidFill>
                <a:latin typeface="Segoe UI"/>
              </a:rPr>
              <a:t>patients keep their stairs</a:t>
            </a:r>
            <a:r>
              <a:rPr sz="1080" b="0">
                <a:solidFill>
                  <a:srgbClr val="2F2C28"/>
                </a:solidFill>
                <a:latin typeface="Segoe UI"/>
              </a:rPr>
              <a:t>, caregivers get a hand, and clinics and rehab facilities get an assistant that never tires. Next up: </a:t>
            </a:r>
            <a:r>
              <a:rPr sz="1080" b="1">
                <a:solidFill>
                  <a:srgbClr val="2F2C28"/>
                </a:solidFill>
                <a:latin typeface="Segoe UI"/>
              </a:rPr>
              <a:t>hardware bring-up</a:t>
            </a:r>
            <a:r>
              <a:rPr sz="1080" b="0">
                <a:solidFill>
                  <a:srgbClr val="2F2C28"/>
                </a:solidFill>
                <a:latin typeface="Segoe UI"/>
              </a:rPr>
              <a:t>, gait polish, and a </a:t>
            </a:r>
            <a:r>
              <a:rPr sz="1080" b="1">
                <a:solidFill>
                  <a:srgbClr val="2F2C28"/>
                </a:solidFill>
                <a:latin typeface="Segoe UI"/>
              </a:rPr>
              <a:t>supervised home pilot</a:t>
            </a:r>
            <a:r>
              <a:rPr sz="1080" b="0">
                <a:solidFill>
                  <a:srgbClr val="2F2C28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8357" y="5980176"/>
            <a:ext cx="96012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8357" y="6012180"/>
            <a:ext cx="9601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home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8205" y="5980176"/>
            <a:ext cx="130302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8205" y="6012180"/>
            <a:ext cx="13030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care facilities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0953" y="5980176"/>
            <a:ext cx="1234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0953" y="6012180"/>
            <a:ext cx="1234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F2C28"/>
                </a:solidFill>
                <a:latin typeface="Consolas"/>
              </a:rPr>
              <a:t>aging in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8357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8085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Sim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full climb, proven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28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56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1 stack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identical sim ⇄ robot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33499" y="4681728"/>
            <a:ext cx="1391267" cy="8412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1AC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43227" y="4773168"/>
            <a:ext cx="11718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62320"/>
                </a:solidFill>
                <a:latin typeface="Segoe UI"/>
              </a:rPr>
              <a:t>Jetson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F6A62"/>
                </a:solidFill>
                <a:latin typeface="Consolas"/>
              </a:rPr>
              <a:t>Orin edge 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